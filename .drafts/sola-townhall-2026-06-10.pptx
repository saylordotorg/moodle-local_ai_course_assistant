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up while people settle. No talking points; the script begins on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story: our model has no instructors, so the tutor gap is structural. SOLA fills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right edge of the screenshot where the SOLA tab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live demo works, skip this slide. It exists as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exchange aloud if the room cannot see detail: learner asks about price ceilings, SOLA asks a guiding question, learner reasons it out, SOLA confirms and points to Unit 2.3.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support is the equity story: same tutor quality regardless of first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Preempt the two questions every faculty audience asks: cheating and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shown are seeded demo data, not real learner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lands with course developers. Pause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Reassurance slide: SOLA is additive and opt out friendly per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plan (3 min, on production v5.4.5): 1. Open BUS101, point at the tab. 2. Open the drawer, show starters. 3. Ask: Why does a price ceiling cause shortages? Let it stream. 4. Ask the same in Spanish. If anything fails, say: let me show you exactly what that looks like, and use slides 4 and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ask. Offer office hours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Meet SOLA</a:t>
            </a:r>
          </a:p>
          <a:p>
            <a:pPr>
              <a:defRPr sz="3000">
                <a:solidFill>
                  <a:srgbClr val="9FD3DA"/>
                </a:solidFill>
              </a:defRPr>
            </a:pPr>
            <a:r>
              <a:t>The Saylor Online Learning Assistant</a:t>
            </a:r>
          </a:p>
          <a:p>
            <a:pPr>
              <a:defRPr sz="1800">
                <a:solidFill>
                  <a:srgbClr val="9FD3DA"/>
                </a:solidFill>
              </a:defRPr>
            </a:pPr>
            <a:r>
              <a:t>Faculty Town Hall, 10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Every Saylor learner studies alone. Until 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B2A4A"/>
                </a:solidFill>
              </a:defRPr>
            </a:pPr>
            <a:r>
              <a:t>Saylor courses are self paced and open to everyone</a:t>
            </a:r>
          </a:p>
          <a:p>
            <a:pPr>
              <a:spcAft>
                <a:spcPts val="1000"/>
              </a:spcAft>
              <a:defRPr sz="2400">
                <a:solidFill>
                  <a:srgbClr val="1B2A4A"/>
                </a:solidFill>
              </a:defRPr>
            </a:pPr>
            <a:r>
              <a:t>We have no traditional teaching faculty. There is no one to raise a hand to.</a:t>
            </a:r>
          </a:p>
          <a:p>
            <a:pPr>
              <a:spcAft>
                <a:spcPts val="1000"/>
              </a:spcAft>
              <a:defRPr sz="2400">
                <a:solidFill>
                  <a:srgbClr val="1B2A4A"/>
                </a:solidFill>
              </a:defRPr>
            </a:pPr>
            <a:r>
              <a:t>When a learner gets stuck at 2 AM, the choice has been: push through, or give up</a:t>
            </a:r>
          </a:p>
          <a:p>
            <a:pPr>
              <a:spcAft>
                <a:spcPts val="1000"/>
              </a:spcAft>
              <a:defRPr sz="2400">
                <a:solidFill>
                  <a:srgbClr val="1B2A4A"/>
                </a:solidFill>
              </a:defRPr>
            </a:pPr>
            <a:r>
              <a:t>SOLA gives every learner a personal tutor inside every course page</a:t>
            </a:r>
          </a:p>
          <a:p>
            <a:pPr>
              <a:spcAft>
                <a:spcPts val="1000"/>
              </a:spcAft>
              <a:defRPr sz="2400">
                <a:solidFill>
                  <a:srgbClr val="1B2A4A"/>
                </a:solidFill>
              </a:defRPr>
            </a:pPr>
            <a:r>
              <a:t>It teaches with questions, in the learner's own language, grounded in the course you built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A tab on the edge of every course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No new logins, no new apps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Lives inside Moodle on learn.saylor.org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One click opens the chat drawer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Knows which course and which page the learner is on</a:t>
            </a:r>
          </a:p>
        </p:txBody>
      </p:sp>
      <p:pic>
        <p:nvPicPr>
          <p:cNvPr id="4" name="Picture 3" descr="01-cours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766560" cy="599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F6E"/>
                </a:solidFill>
              </a:defRPr>
            </a:pPr>
            <a:r>
              <a:t>Screenshot: demo course on our development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First open: a coach that suggests where to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Conversation starters, not a blank box</a:t>
            </a:r>
          </a:p>
          <a:p>
            <a:pPr lvl="1">
              <a:spcAft>
                <a:spcPts val="1000"/>
              </a:spcAft>
              <a:defRPr sz="1700">
                <a:solidFill>
                  <a:srgbClr val="555F6E"/>
                </a:solidFill>
              </a:defRPr>
            </a:pPr>
            <a:r>
              <a:t>Explain this page</a:t>
            </a:r>
          </a:p>
          <a:p>
            <a:pPr lvl="1">
              <a:spcAft>
                <a:spcPts val="1000"/>
              </a:spcAft>
              <a:defRPr sz="1700">
                <a:solidFill>
                  <a:srgbClr val="555F6E"/>
                </a:solidFill>
              </a:defRPr>
            </a:pPr>
            <a:r>
              <a:t>Quiz me</a:t>
            </a:r>
          </a:p>
          <a:p>
            <a:pPr lvl="1">
              <a:spcAft>
                <a:spcPts val="1000"/>
              </a:spcAft>
              <a:defRPr sz="1700">
                <a:solidFill>
                  <a:srgbClr val="555F6E"/>
                </a:solidFill>
              </a:defRPr>
            </a:pPr>
            <a:r>
              <a:t>Build a study plan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Learners who do not know what to ask still get moving</a:t>
            </a:r>
          </a:p>
        </p:txBody>
      </p:sp>
      <p:pic>
        <p:nvPicPr>
          <p:cNvPr id="4" name="Picture 3" descr="02-star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766560" cy="599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F6E"/>
                </a:solidFill>
              </a:defRPr>
            </a:pPr>
            <a:r>
              <a:t>Backup slide for the live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It coaches. It does not hand over answers.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Socratic by design: it asks the learner to reason first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Grounded in your course: it retrieves the actual unit text and cites it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This exchange references Unit 2.3 of the course by name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Declines to answer graded quiz and exam questions</a:t>
            </a:r>
          </a:p>
        </p:txBody>
      </p:sp>
      <p:pic>
        <p:nvPicPr>
          <p:cNvPr id="4" name="Picture 3" descr="03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766560" cy="599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F6E"/>
                </a:solidFill>
              </a:defRPr>
            </a:pPr>
            <a:r>
              <a:t>Backup slide for the live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46 languages, detected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Most Saylor learners are outside the United States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A learner can ask in Swahili, Hindi, Vietnamese, or 43 other languages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SOLA answers in their language while teaching your course content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Learners can also pin a preferred language in settings</a:t>
            </a:r>
          </a:p>
        </p:txBody>
      </p:sp>
      <p:pic>
        <p:nvPicPr>
          <p:cNvPr id="4" name="Picture 3" descr="04-setting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766560" cy="5991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Built with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B2A4A"/>
                </a:solidFill>
              </a:defRPr>
            </a:pPr>
            <a:r>
              <a:t>Academic integrity: refuses to supply graded answers, redirects to learning</a:t>
            </a:r>
          </a:p>
          <a:p>
            <a:pPr>
              <a:spcAft>
                <a:spcPts val="1000"/>
              </a:spcAft>
              <a:defRPr sz="2200">
                <a:solidFill>
                  <a:srgbClr val="1B2A4A"/>
                </a:solidFill>
              </a:defRPr>
            </a:pPr>
            <a:r>
              <a:t>Privacy: a consent notice before first use, plain language, GDPR aligned</a:t>
            </a:r>
          </a:p>
          <a:p>
            <a:pPr>
              <a:spcAft>
                <a:spcPts val="1000"/>
              </a:spcAft>
              <a:defRPr sz="2200">
                <a:solidFill>
                  <a:srgbClr val="1B2A4A"/>
                </a:solidFill>
              </a:defRPr>
            </a:pPr>
            <a:r>
              <a:t>Cost control: spend caps per course and site wide, alerts to administrators</a:t>
            </a:r>
          </a:p>
          <a:p>
            <a:pPr>
              <a:spcAft>
                <a:spcPts val="1000"/>
              </a:spcAft>
              <a:defRPr sz="2200">
                <a:solidFill>
                  <a:srgbClr val="1B2A4A"/>
                </a:solidFill>
              </a:defRPr>
            </a:pPr>
            <a:r>
              <a:t>Off topic limits: it stays on the course</a:t>
            </a:r>
          </a:p>
          <a:p>
            <a:pPr>
              <a:spcAft>
                <a:spcPts val="1000"/>
              </a:spcAft>
              <a:defRPr sz="2200">
                <a:solidFill>
                  <a:srgbClr val="1B2A4A"/>
                </a:solidFill>
              </a:defRPr>
            </a:pPr>
            <a:r>
              <a:t>Every release passes an automated 32 scenario jailbreak test before shipping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Your course,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Per course dashboard: conversations, active learners, usage trends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No grading burden, no inbox, nothing to moderate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You see how learners actually use the course you built</a:t>
            </a:r>
          </a:p>
        </p:txBody>
      </p:sp>
      <p:pic>
        <p:nvPicPr>
          <p:cNvPr id="4" name="Picture 3" descr="05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2738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F6E"/>
                </a:solidFill>
              </a:defRPr>
            </a:pPr>
            <a:r>
              <a:t>Demo data shown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The questions learners are really 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Recurring question patterns, ranked by frequency</a:t>
            </a:r>
          </a:p>
          <a:p>
            <a:pPr lvl="1">
              <a:spcAft>
                <a:spcPts val="1000"/>
              </a:spcAft>
              <a:defRPr sz="1700">
                <a:solidFill>
                  <a:srgbClr val="555F6E"/>
                </a:solidFill>
              </a:defRPr>
            </a:pPr>
            <a:r>
              <a:t>What is a real world example of... appears 20 times</a:t>
            </a:r>
          </a:p>
          <a:p>
            <a:pPr lvl="1">
              <a:spcAft>
                <a:spcPts val="1000"/>
              </a:spcAft>
              <a:defRPr sz="1700">
                <a:solidFill>
                  <a:srgbClr val="555F6E"/>
                </a:solidFill>
              </a:defRPr>
            </a:pPr>
            <a:r>
              <a:t>I got a poor grade on... appears 11 times</a:t>
            </a:r>
          </a:p>
          <a:p>
            <a:pPr lvl="1">
              <a:spcAft>
                <a:spcPts val="1000"/>
              </a:spcAft>
              <a:defRPr sz="1700">
                <a:solidFill>
                  <a:srgbClr val="555F6E"/>
                </a:solidFill>
              </a:defRPr>
            </a:pPr>
            <a:r>
              <a:t>I am struggling to stay focused appears 9 times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This is course revision gold: it tells you which unit needs a better example, a clearer explanation, or a checkpoint quiz</a:t>
            </a:r>
          </a:p>
        </p:txBody>
      </p:sp>
      <p:pic>
        <p:nvPicPr>
          <p:cNvPr id="4" name="Picture 3" descr="06-analytics-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035040" cy="5364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F6E"/>
                </a:solidFill>
              </a:defRPr>
            </a:pPr>
            <a:r>
              <a:t>Demo data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You are in control of your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Per course settings: enable or disable SOLA, tune the welcome, adjust behavior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Hide SOLA on graded quizzes automatically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Learning objectives you define become the spine SOLA coaches toward</a:t>
            </a:r>
          </a:p>
          <a:p>
            <a:pPr>
              <a:spcAft>
                <a:spcPts val="1000"/>
              </a:spcAft>
              <a:defRPr sz="2000">
                <a:solidFill>
                  <a:srgbClr val="1B2A4A"/>
                </a:solidFill>
              </a:defRPr>
            </a:pPr>
            <a:r>
              <a:t>Nothing changes in your course unless you choose it</a:t>
            </a:r>
          </a:p>
        </p:txBody>
      </p:sp>
      <p:pic>
        <p:nvPicPr>
          <p:cNvPr id="4" name="Picture 3" descr="08-course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766560" cy="18189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Live demo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learn.saylor.org, BUS101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A4A"/>
                </a:solidFill>
              </a:defRPr>
            </a:pPr>
            <a:r>
              <a:t>Where we are, and how to get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B2A4A"/>
                </a:solidFill>
              </a:defRPr>
            </a:pPr>
            <a:r>
              <a:t>Live today on Learn and Degrees in a pilot of about 30 courses</a:t>
            </a:r>
          </a:p>
          <a:p>
            <a:pPr>
              <a:spcAft>
                <a:spcPts val="1000"/>
              </a:spcAft>
              <a:defRPr sz="2100">
                <a:solidFill>
                  <a:srgbClr val="1B2A4A"/>
                </a:solidFill>
              </a:defRPr>
            </a:pPr>
            <a:r>
              <a:t>Nearly 3,000 learners used SOLA in the pilot window</a:t>
            </a:r>
          </a:p>
          <a:p>
            <a:pPr>
              <a:spcAft>
                <a:spcPts val="1000"/>
              </a:spcAft>
              <a:defRPr sz="2100">
                <a:solidFill>
                  <a:srgbClr val="1B2A4A"/>
                </a:solidFill>
              </a:defRPr>
            </a:pPr>
            <a:r>
              <a:t>Cost at full pilot scale is a few hundred dollars per month, with caps</a:t>
            </a:r>
          </a:p>
          <a:p>
            <a:pPr>
              <a:spcAft>
                <a:spcPts val="1000"/>
              </a:spcAft>
              <a:defRPr sz="2100">
                <a:solidFill>
                  <a:srgbClr val="1B2A4A"/>
                </a:solidFill>
              </a:defRPr>
            </a:pPr>
            <a:r>
              <a:t>Next: expanding toward all courses, smarter routing for hard STEM questions</a:t>
            </a:r>
          </a:p>
          <a:p>
            <a:pPr>
              <a:spcAft>
                <a:spcPts val="1000"/>
              </a:spcAft>
              <a:defRPr sz="2100">
                <a:solidFill>
                  <a:srgbClr val="1B2A4A"/>
                </a:solidFill>
              </a:defRPr>
            </a:pPr>
            <a:r>
              <a:t>What we need from you:</a:t>
            </a:r>
          </a:p>
          <a:p>
            <a:pPr lvl="1">
              <a:spcAft>
                <a:spcPts val="1000"/>
              </a:spcAft>
              <a:defRPr sz="1800">
                <a:solidFill>
                  <a:srgbClr val="555F6E"/>
                </a:solidFill>
              </a:defRPr>
            </a:pPr>
            <a:r>
              <a:t>Tell us which of your courses should join the rollout next</a:t>
            </a:r>
          </a:p>
          <a:p>
            <a:pPr lvl="1">
              <a:spcAft>
                <a:spcPts val="1000"/>
              </a:spcAft>
              <a:defRPr sz="1800">
                <a:solidFill>
                  <a:srgbClr val="555F6E"/>
                </a:solidFill>
              </a:defRPr>
            </a:pPr>
            <a:r>
              <a:t>Send us the confusing spots you already know about, SOLA data will confirm them</a:t>
            </a:r>
          </a:p>
          <a:p>
            <a:pPr lvl="1">
              <a:spcAft>
                <a:spcPts val="1000"/>
              </a:spcAft>
              <a:defRPr sz="1800">
                <a:solidFill>
                  <a:srgbClr val="555F6E"/>
                </a:solidFill>
              </a:defRPr>
            </a:pPr>
            <a:r>
              <a:t>Fifteen minutes with the analytics dashboard for your course, we will set it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